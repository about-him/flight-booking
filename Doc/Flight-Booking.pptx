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572RIFiz/AAh9cJ9DYz3wQDID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Opening slide for the flight booking platform. Emphasize the source-of-truth database, search separation, and the operational safety layers.</a:t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 this slide to frame the product capabilities before jumping into implementation details.</a:t>
            </a:r>
            <a:endParaRPr/>
          </a:p>
        </p:txBody>
      </p:sp>
      <p:sp>
        <p:nvSpPr>
          <p:cNvPr id="49" name="Google Shape;4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is the main technology breakdown slide. Keep the wording simple and emphasize the boundary between app, data, and infrastructure.</a:t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Architecture slide. Use it to walk left-to-right: presentation, API, data/search, and infra.</a:t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6557f50ee_2_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g3e6557f50ee_2_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is useful for explaining the business process and how responsibilities split across roles and services.</a:t>
            </a:r>
            <a:endParaRPr/>
          </a:p>
        </p:txBody>
      </p:sp>
      <p:sp>
        <p:nvSpPr>
          <p:cNvPr id="136" name="Google Shape;136;g3e6557f50ee_2_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main architectural idea is that writes go to PostgreSQL, while search and notifications are fed by events.</a:t>
            </a:r>
            <a:endParaRPr/>
          </a:p>
        </p:txBody>
      </p:sp>
      <p:sp>
        <p:nvSpPr>
          <p:cNvPr id="184" name="Google Shape;18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 this matrix to explain who can do what. The approval chain is the most important distinction between roles.</a:t>
            </a:r>
            <a:endParaRPr/>
          </a:p>
        </p:txBody>
      </p:sp>
      <p:sp>
        <p:nvSpPr>
          <p:cNvPr id="226" name="Google Shape;22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Final slide. Keep it practical: how to run, what is already seeded, and the next sensible implementation steps.</a:t>
            </a:r>
            <a:endParaRPr/>
          </a:p>
        </p:txBody>
      </p:sp>
      <p:sp>
        <p:nvSpPr>
          <p:cNvPr id="295" name="Google Shape;29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1pPr>
            <a:lvl2pPr indent="0" lvl="1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2pPr>
            <a:lvl3pPr indent="0" lvl="2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3pPr>
            <a:lvl4pPr indent="0" lvl="3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4pPr>
            <a:lvl5pPr indent="0" lvl="4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5pPr>
            <a:lvl6pPr indent="0" lvl="5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6pPr>
            <a:lvl7pPr indent="0" lvl="6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7pPr>
            <a:lvl8pPr indent="0" lvl="7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8pPr>
            <a:lvl9pPr indent="0" lvl="8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 txBox="1"/>
          <p:nvPr>
            <p:ph idx="12" type="sldNum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757575"/>
              </a:solidFill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cap="flat" cmpd="sng" w="9525">
            <a:solidFill>
              <a:srgbClr val="08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-762000" y="-381000"/>
            <a:ext cx="5334000" cy="5334000"/>
          </a:xfrm>
          <a:prstGeom prst="ellipse">
            <a:avLst/>
          </a:prstGeom>
          <a:solidFill>
            <a:srgbClr val="17315C">
              <a:alpha val="53333"/>
            </a:srgbClr>
          </a:solidFill>
          <a:ln cap="flat" cmpd="sng" w="9525">
            <a:solidFill>
              <a:srgbClr val="17315C">
                <a:alpha val="5333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9144000" y="-1143000"/>
            <a:ext cx="4762500" cy="4762500"/>
          </a:xfrm>
          <a:prstGeom prst="ellipse">
            <a:avLst/>
          </a:prstGeom>
          <a:solidFill>
            <a:srgbClr val="1E4C8A">
              <a:alpha val="46666"/>
            </a:srgbClr>
          </a:solidFill>
          <a:ln cap="flat" cmpd="sng" w="9525">
            <a:solidFill>
              <a:srgbClr val="1E4C8A">
                <a:alpha val="4666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8382000" y="4000500"/>
            <a:ext cx="4000500" cy="3048000"/>
          </a:xfrm>
          <a:prstGeom prst="roundRect">
            <a:avLst>
              <a:gd fmla="val 2500" name="adj"/>
            </a:avLst>
          </a:prstGeom>
          <a:solidFill>
            <a:srgbClr val="10243D"/>
          </a:solidFill>
          <a:ln cap="flat" cmpd="sng" w="95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514350" y="51435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8F0D5"/>
                </a:solidFill>
                <a:latin typeface="Calibri"/>
                <a:ea typeface="Calibri"/>
                <a:cs typeface="Calibri"/>
                <a:sym typeface="Calibri"/>
              </a:rPr>
              <a:t>FLIGHT BOOKING SYSTEM</a:t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14350" y="838200"/>
            <a:ext cx="55245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Scalable Flight Booking Platform</a:t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14350" y="2038350"/>
            <a:ext cx="5334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React frontend · NestJS API · PostgreSQL source of truth · Elasticsearch search · Kafka/Debezium sync · Redis seat locking</a:t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514350" y="3086100"/>
            <a:ext cx="838200" cy="323850"/>
          </a:xfrm>
          <a:prstGeom prst="roundRect">
            <a:avLst>
              <a:gd fmla="val 23529" name="adj"/>
            </a:avLst>
          </a:prstGeom>
          <a:solidFill>
            <a:srgbClr val="152542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78F0D5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1447800" y="3086100"/>
            <a:ext cx="914400" cy="323850"/>
          </a:xfrm>
          <a:prstGeom prst="roundRect">
            <a:avLst>
              <a:gd fmla="val 23529" name="adj"/>
            </a:avLst>
          </a:prstGeom>
          <a:solidFill>
            <a:srgbClr val="152542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B9CFF"/>
                </a:solidFill>
                <a:latin typeface="Calibri"/>
                <a:ea typeface="Calibri"/>
                <a:cs typeface="Calibri"/>
                <a:sym typeface="Calibri"/>
              </a:rPr>
              <a:t>Booking</a:t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2457450" y="3086100"/>
            <a:ext cx="800100" cy="323850"/>
          </a:xfrm>
          <a:prstGeom prst="roundRect">
            <a:avLst>
              <a:gd fmla="val 23529" name="adj"/>
            </a:avLst>
          </a:prstGeom>
          <a:solidFill>
            <a:srgbClr val="152542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BF6B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514350" y="3657600"/>
            <a:ext cx="2400300" cy="1524000"/>
          </a:xfrm>
          <a:prstGeom prst="roundRect">
            <a:avLst>
              <a:gd fmla="val 5000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514350" y="3657600"/>
            <a:ext cx="2400300" cy="76200"/>
          </a:xfrm>
          <a:prstGeom prst="rect">
            <a:avLst/>
          </a:prstGeom>
          <a:solidFill>
            <a:srgbClr val="5B9CFF"/>
          </a:solidFill>
          <a:ln cap="flat" cmpd="sng" w="9525">
            <a:solidFill>
              <a:srgbClr val="5B9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685800" y="3829050"/>
            <a:ext cx="2057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Source of truth</a:t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685800" y="4210050"/>
            <a:ext cx="20574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PostgreSQL holds users, airlines, flights, seats, bookings, and approval state.</a:t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3067050" y="3657600"/>
            <a:ext cx="2400300" cy="1524000"/>
          </a:xfrm>
          <a:prstGeom prst="roundRect">
            <a:avLst>
              <a:gd fmla="val 5000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3067050" y="3657600"/>
            <a:ext cx="2400300" cy="76200"/>
          </a:xfrm>
          <a:prstGeom prst="rect">
            <a:avLst/>
          </a:prstGeom>
          <a:solidFill>
            <a:srgbClr val="78F0D5"/>
          </a:solidFill>
          <a:ln cap="flat" cmpd="sng" w="9525">
            <a:solidFill>
              <a:srgbClr val="78F0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3238500" y="3829050"/>
            <a:ext cx="2057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Search layer</a:t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3238500" y="4210050"/>
            <a:ext cx="20574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Elasticsearch serves flight search so reads do not compete with booking writes.</a:t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5619750" y="3657600"/>
            <a:ext cx="2400300" cy="1524000"/>
          </a:xfrm>
          <a:prstGeom prst="roundRect">
            <a:avLst>
              <a:gd fmla="val 5000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5619750" y="3657600"/>
            <a:ext cx="2400300" cy="76200"/>
          </a:xfrm>
          <a:prstGeom prst="rect">
            <a:avLst/>
          </a:prstGeom>
          <a:solidFill>
            <a:srgbClr val="FFBF6B"/>
          </a:solidFill>
          <a:ln cap="flat" cmpd="sng" w="9525">
            <a:solidFill>
              <a:srgbClr val="FFB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5791200" y="3829050"/>
            <a:ext cx="2057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Safety layer</a:t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5791200" y="4210050"/>
            <a:ext cx="20574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Redis seat locks and Stripe payment flow prevent double booking and stale holds.</a:t>
            </a:r>
            <a:endParaRPr/>
          </a:p>
        </p:txBody>
      </p:sp>
      <p:pic>
        <p:nvPicPr>
          <p:cNvPr id="45" name="Google Shape;45;p1" title="HLD-layer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5375" y="4478550"/>
            <a:ext cx="3373752" cy="192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3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/>
          <p:nvPr/>
        </p:nvSpPr>
        <p:spPr>
          <a:xfrm>
            <a:off x="51435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8F0D5"/>
                </a:solidFill>
                <a:latin typeface="Calibri"/>
                <a:ea typeface="Calibri"/>
                <a:cs typeface="Calibri"/>
                <a:sym typeface="Calibri"/>
              </a:rPr>
              <a:t>WHY THIS PLATFORM</a:t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514350" y="609600"/>
            <a:ext cx="7429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What the system is designed to do</a:t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514350" y="12573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The app is built for search, booking safety, role-based approval, and easy local execution.</a:t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514350" y="1676400"/>
            <a:ext cx="2552700" cy="1676400"/>
          </a:xfrm>
          <a:prstGeom prst="roundRect">
            <a:avLst>
              <a:gd fmla="val 4545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514350" y="1676400"/>
            <a:ext cx="2552700" cy="76200"/>
          </a:xfrm>
          <a:prstGeom prst="rect">
            <a:avLst/>
          </a:prstGeom>
          <a:solidFill>
            <a:srgbClr val="5B9CFF"/>
          </a:solidFill>
          <a:ln cap="flat" cmpd="sng" w="9525">
            <a:solidFill>
              <a:srgbClr val="5B9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85800" y="184785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Fast search</a:t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85800" y="2228850"/>
            <a:ext cx="22098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Search one-way and round-trip flights with date and route filtering. Elasticsearch keeps the search path fast.</a:t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3219450" y="1676400"/>
            <a:ext cx="2552700" cy="1676400"/>
          </a:xfrm>
          <a:prstGeom prst="roundRect">
            <a:avLst>
              <a:gd fmla="val 4545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3219450" y="1676400"/>
            <a:ext cx="2552700" cy="76200"/>
          </a:xfrm>
          <a:prstGeom prst="rect">
            <a:avLst/>
          </a:prstGeom>
          <a:solidFill>
            <a:srgbClr val="8CF2A4"/>
          </a:solidFill>
          <a:ln cap="flat" cmpd="sng" w="9525">
            <a:solidFill>
              <a:srgbClr val="8CF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3390900" y="184785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Safe booking</a:t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3390900" y="2228850"/>
            <a:ext cx="22098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Seat locks, payment flow, and booking state transitions reduce double-booking risk.</a:t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5924550" y="1676400"/>
            <a:ext cx="2552700" cy="1676400"/>
          </a:xfrm>
          <a:prstGeom prst="roundRect">
            <a:avLst>
              <a:gd fmla="val 4545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5924550" y="1676400"/>
            <a:ext cx="2552700" cy="76200"/>
          </a:xfrm>
          <a:prstGeom prst="rect">
            <a:avLst/>
          </a:prstGeom>
          <a:solidFill>
            <a:srgbClr val="FFBF6B"/>
          </a:solidFill>
          <a:ln cap="flat" cmpd="sng" w="9525">
            <a:solidFill>
              <a:srgbClr val="FFB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096000" y="184785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Operational control</a:t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096000" y="2228850"/>
            <a:ext cx="22098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Associate and Senior Associate roles separate validation from approval.</a:t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8629650" y="1676400"/>
            <a:ext cx="3048000" cy="1676400"/>
          </a:xfrm>
          <a:prstGeom prst="roundRect">
            <a:avLst>
              <a:gd fmla="val 4545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8629650" y="1676400"/>
            <a:ext cx="3048000" cy="76200"/>
          </a:xfrm>
          <a:prstGeom prst="rect">
            <a:avLst/>
          </a:prstGeom>
          <a:solidFill>
            <a:srgbClr val="FF8E7C"/>
          </a:solidFill>
          <a:ln cap="flat" cmpd="sng" w="9525">
            <a:solidFill>
              <a:srgbClr val="FF8E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8801100" y="184785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Scalable delivery</a:t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8801100" y="2228850"/>
            <a:ext cx="27051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Docker Compose, Kafka, Debezium, and PgBouncer keep the stack practical to run and scale.</a:t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514350" y="3638550"/>
            <a:ext cx="11163300" cy="1866900"/>
          </a:xfrm>
          <a:prstGeom prst="roundRect">
            <a:avLst>
              <a:gd fmla="val 4082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514350" y="3638550"/>
            <a:ext cx="11163300" cy="76200"/>
          </a:xfrm>
          <a:prstGeom prst="rect">
            <a:avLst/>
          </a:prstGeom>
          <a:solidFill>
            <a:srgbClr val="78F0D5"/>
          </a:solidFill>
          <a:ln cap="flat" cmpd="sng" w="9525">
            <a:solidFill>
              <a:srgbClr val="78F0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85800" y="3810000"/>
            <a:ext cx="10820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User journeys</a:t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685800" y="4191000"/>
            <a:ext cx="1082040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Public users search and book flights, check in, and view bookings. Airline staff manage schedules and review bookings. Superadmin handles airlines and staff lifecycle.</a:t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11049000" y="643890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D8CA8"/>
                </a:solidFill>
                <a:latin typeface="Calibri"/>
                <a:ea typeface="Calibri"/>
                <a:cs typeface="Calibri"/>
                <a:sym typeface="Calibri"/>
              </a:rPr>
              <a:t>02 / 08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51435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8F0D5"/>
                </a:solidFill>
                <a:latin typeface="Calibri"/>
                <a:ea typeface="Calibri"/>
                <a:cs typeface="Calibri"/>
                <a:sym typeface="Calibri"/>
              </a:rPr>
              <a:t>STACK BY LAYER</a:t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514350" y="609600"/>
            <a:ext cx="7429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What is used under which part of the system</a:t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514350" y="12573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This slide answers the architecture question in the most direct way: layer, technology, and purpose.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95300" y="1600200"/>
            <a:ext cx="2590800" cy="4152900"/>
          </a:xfrm>
          <a:prstGeom prst="roundRect">
            <a:avLst>
              <a:gd fmla="val 2941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95300" y="1600200"/>
            <a:ext cx="2590800" cy="95250"/>
          </a:xfrm>
          <a:prstGeom prst="rect">
            <a:avLst/>
          </a:prstGeom>
          <a:solidFill>
            <a:srgbClr val="5B9CFF"/>
          </a:solidFill>
          <a:ln cap="flat" cmpd="sng" w="9525">
            <a:solidFill>
              <a:srgbClr val="5B9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666750" y="18288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Presentation</a:t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85800" y="22669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React 18</a:t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685800" y="26098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Vite</a:t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85800" y="29527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TypeScript</a:t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685800" y="32956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Tailwind CSS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685800" y="3638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React Query / TanStack Query</a:t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685800" y="39814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Axios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3352800" y="1600200"/>
            <a:ext cx="2590800" cy="4152900"/>
          </a:xfrm>
          <a:prstGeom prst="roundRect">
            <a:avLst>
              <a:gd fmla="val 2941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3352800" y="1600200"/>
            <a:ext cx="2590800" cy="95250"/>
          </a:xfrm>
          <a:prstGeom prst="rect">
            <a:avLst/>
          </a:prstGeom>
          <a:solidFill>
            <a:srgbClr val="78F0D5"/>
          </a:solidFill>
          <a:ln cap="flat" cmpd="sng" w="9525">
            <a:solidFill>
              <a:srgbClr val="78F0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3524250" y="18288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Application / API</a:t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3543300" y="22669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NestJS</a:t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3543300" y="26098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Prisma</a:t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3543300" y="29527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JWT auth</a:t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3543300" y="32956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RBAC guards</a:t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3543300" y="3638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Redis seat locks</a:t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3543300" y="39814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Stripe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3543300" y="43243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SendGrid</a:t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3543300" y="46672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Kafka producer/consumer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6210300" y="1600200"/>
            <a:ext cx="2590800" cy="4152900"/>
          </a:xfrm>
          <a:prstGeom prst="roundRect">
            <a:avLst>
              <a:gd fmla="val 2941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6210300" y="1600200"/>
            <a:ext cx="2590800" cy="95250"/>
          </a:xfrm>
          <a:prstGeom prst="rect">
            <a:avLst/>
          </a:prstGeom>
          <a:solidFill>
            <a:srgbClr val="FFBF6B"/>
          </a:solidFill>
          <a:ln cap="flat" cmpd="sng" w="9525">
            <a:solidFill>
              <a:srgbClr val="FFB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381750" y="18288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Data / Search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6400800" y="22669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PostgreSQL 16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6400800" y="26098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PgBouncer write pool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6400800" y="29527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PgBouncer read pool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6400800" y="32956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Elasticsearch 8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6400800" y="3638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Debezium CDC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6400800" y="39814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Kafka CDC topics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9067800" y="1600200"/>
            <a:ext cx="2590800" cy="4152900"/>
          </a:xfrm>
          <a:prstGeom prst="roundRect">
            <a:avLst>
              <a:gd fmla="val 2941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9067800" y="1600200"/>
            <a:ext cx="2590800" cy="95250"/>
          </a:xfrm>
          <a:prstGeom prst="rect">
            <a:avLst/>
          </a:prstGeom>
          <a:solidFill>
            <a:srgbClr val="8CF2A4"/>
          </a:solidFill>
          <a:ln cap="flat" cmpd="sng" w="9525">
            <a:solidFill>
              <a:srgbClr val="8CF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9239250" y="18288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Local Infra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9258300" y="22669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Docker Compose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9258300" y="26098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Redis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9258300" y="29527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Kafka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9258300" y="32956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Zookeeper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9258300" y="3638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Debezium Connect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9258300" y="39814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Elasticsearch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9258300" y="43243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• PostgreSQL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11049000" y="643890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D8CA8"/>
                </a:solidFill>
                <a:latin typeface="Calibri"/>
                <a:ea typeface="Calibri"/>
                <a:cs typeface="Calibri"/>
                <a:sym typeface="Calibri"/>
              </a:rPr>
              <a:t>03 / 08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51435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8F0D5"/>
                </a:solidFill>
                <a:latin typeface="Calibri"/>
                <a:ea typeface="Calibri"/>
                <a:cs typeface="Calibri"/>
                <a:sym typeface="Calibri"/>
              </a:rPr>
              <a:t>HLD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514350" y="609600"/>
            <a:ext cx="7429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System architecture overview</a:t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514350" y="714375"/>
            <a:ext cx="8572500" cy="400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lang="en-US" sz="1275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ow the frontend, API, search, data, and event stream work together.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11049000" y="643890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D8CA8"/>
                </a:solidFill>
                <a:latin typeface="Calibri"/>
                <a:ea typeface="Calibri"/>
                <a:cs typeface="Calibri"/>
                <a:sym typeface="Calibri"/>
              </a:rPr>
              <a:t>04 / 08</a:t>
            </a:r>
            <a:endParaRPr/>
          </a:p>
        </p:txBody>
      </p:sp>
      <p:pic>
        <p:nvPicPr>
          <p:cNvPr id="132" name="Google Shape;132;p4" title="HLD-layer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450" y="1020275"/>
            <a:ext cx="10644200" cy="545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3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6557f50ee_2_9"/>
          <p:cNvSpPr/>
          <p:nvPr/>
        </p:nvSpPr>
        <p:spPr>
          <a:xfrm>
            <a:off x="514350" y="381000"/>
            <a:ext cx="3429000" cy="209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8F0D5"/>
                </a:solidFill>
                <a:latin typeface="Calibri"/>
                <a:ea typeface="Calibri"/>
                <a:cs typeface="Calibri"/>
                <a:sym typeface="Calibri"/>
              </a:rPr>
              <a:t>FLOW</a:t>
            </a:r>
            <a:endParaRPr/>
          </a:p>
        </p:txBody>
      </p:sp>
      <p:sp>
        <p:nvSpPr>
          <p:cNvPr id="139" name="Google Shape;139;g3e6557f50ee_2_9"/>
          <p:cNvSpPr/>
          <p:nvPr/>
        </p:nvSpPr>
        <p:spPr>
          <a:xfrm>
            <a:off x="514350" y="609600"/>
            <a:ext cx="7429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Booking and approval lifecycle</a:t>
            </a:r>
            <a:endParaRPr/>
          </a:p>
        </p:txBody>
      </p:sp>
      <p:sp>
        <p:nvSpPr>
          <p:cNvPr id="140" name="Google Shape;140;g3e6557f50ee_2_9"/>
          <p:cNvSpPr/>
          <p:nvPr/>
        </p:nvSpPr>
        <p:spPr>
          <a:xfrm>
            <a:off x="514350" y="1257300"/>
            <a:ext cx="8572500" cy="400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The booking path separates payment, initial validation, and final approval so operational control stays clear.</a:t>
            </a:r>
            <a:endParaRPr/>
          </a:p>
        </p:txBody>
      </p:sp>
      <p:sp>
        <p:nvSpPr>
          <p:cNvPr id="141" name="Google Shape;141;g3e6557f50ee_2_9"/>
          <p:cNvSpPr/>
          <p:nvPr/>
        </p:nvSpPr>
        <p:spPr>
          <a:xfrm>
            <a:off x="495300" y="2038350"/>
            <a:ext cx="1714500" cy="1638300"/>
          </a:xfrm>
          <a:prstGeom prst="roundRect">
            <a:avLst>
              <a:gd fmla="val 4651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e6557f50ee_2_9"/>
          <p:cNvSpPr/>
          <p:nvPr/>
        </p:nvSpPr>
        <p:spPr>
          <a:xfrm>
            <a:off x="495300" y="2038350"/>
            <a:ext cx="1714500" cy="76200"/>
          </a:xfrm>
          <a:prstGeom prst="rect">
            <a:avLst/>
          </a:prstGeom>
          <a:solidFill>
            <a:srgbClr val="5B9CFF"/>
          </a:solidFill>
          <a:ln cap="flat" cmpd="sng" w="95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e6557f50ee_2_9"/>
          <p:cNvSpPr/>
          <p:nvPr/>
        </p:nvSpPr>
        <p:spPr>
          <a:xfrm>
            <a:off x="647700" y="21907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78F0D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4" name="Google Shape;144;g3e6557f50ee_2_9"/>
          <p:cNvSpPr/>
          <p:nvPr/>
        </p:nvSpPr>
        <p:spPr>
          <a:xfrm>
            <a:off x="647700" y="2476500"/>
            <a:ext cx="14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/>
          </a:p>
        </p:txBody>
      </p:sp>
      <p:sp>
        <p:nvSpPr>
          <p:cNvPr id="145" name="Google Shape;145;g3e6557f50ee_2_9"/>
          <p:cNvSpPr/>
          <p:nvPr/>
        </p:nvSpPr>
        <p:spPr>
          <a:xfrm>
            <a:off x="647700" y="2838450"/>
            <a:ext cx="1428900" cy="590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User filters flights by route, date, and trip type.</a:t>
            </a:r>
            <a:endParaRPr/>
          </a:p>
        </p:txBody>
      </p:sp>
      <p:sp>
        <p:nvSpPr>
          <p:cNvPr id="146" name="Google Shape;146;g3e6557f50ee_2_9"/>
          <p:cNvSpPr/>
          <p:nvPr/>
        </p:nvSpPr>
        <p:spPr>
          <a:xfrm>
            <a:off x="2266950" y="27241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7D8C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47" name="Google Shape;147;g3e6557f50ee_2_9"/>
          <p:cNvSpPr/>
          <p:nvPr/>
        </p:nvSpPr>
        <p:spPr>
          <a:xfrm>
            <a:off x="2362200" y="2038350"/>
            <a:ext cx="1714500" cy="1638300"/>
          </a:xfrm>
          <a:prstGeom prst="roundRect">
            <a:avLst>
              <a:gd fmla="val 4651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e6557f50ee_2_9"/>
          <p:cNvSpPr/>
          <p:nvPr/>
        </p:nvSpPr>
        <p:spPr>
          <a:xfrm>
            <a:off x="2362200" y="2038350"/>
            <a:ext cx="1714500" cy="76200"/>
          </a:xfrm>
          <a:prstGeom prst="rect">
            <a:avLst/>
          </a:prstGeom>
          <a:solidFill>
            <a:srgbClr val="78F0D5"/>
          </a:solidFill>
          <a:ln cap="flat" cmpd="sng" w="95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e6557f50ee_2_9"/>
          <p:cNvSpPr/>
          <p:nvPr/>
        </p:nvSpPr>
        <p:spPr>
          <a:xfrm>
            <a:off x="2514600" y="21907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78F0D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0" name="Google Shape;150;g3e6557f50ee_2_9"/>
          <p:cNvSpPr/>
          <p:nvPr/>
        </p:nvSpPr>
        <p:spPr>
          <a:xfrm>
            <a:off x="2514600" y="2476500"/>
            <a:ext cx="14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Lock seat</a:t>
            </a:r>
            <a:endParaRPr/>
          </a:p>
        </p:txBody>
      </p:sp>
      <p:sp>
        <p:nvSpPr>
          <p:cNvPr id="151" name="Google Shape;151;g3e6557f50ee_2_9"/>
          <p:cNvSpPr/>
          <p:nvPr/>
        </p:nvSpPr>
        <p:spPr>
          <a:xfrm>
            <a:off x="2514600" y="2838450"/>
            <a:ext cx="1428900" cy="590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Redis reserves the seat for a short TTL window.</a:t>
            </a:r>
            <a:endParaRPr/>
          </a:p>
        </p:txBody>
      </p:sp>
      <p:sp>
        <p:nvSpPr>
          <p:cNvPr id="152" name="Google Shape;152;g3e6557f50ee_2_9"/>
          <p:cNvSpPr/>
          <p:nvPr/>
        </p:nvSpPr>
        <p:spPr>
          <a:xfrm>
            <a:off x="4133850" y="27241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7D8C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53" name="Google Shape;153;g3e6557f50ee_2_9"/>
          <p:cNvSpPr/>
          <p:nvPr/>
        </p:nvSpPr>
        <p:spPr>
          <a:xfrm>
            <a:off x="4229100" y="2038350"/>
            <a:ext cx="1714500" cy="1638300"/>
          </a:xfrm>
          <a:prstGeom prst="roundRect">
            <a:avLst>
              <a:gd fmla="val 4651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6557f50ee_2_9"/>
          <p:cNvSpPr/>
          <p:nvPr/>
        </p:nvSpPr>
        <p:spPr>
          <a:xfrm>
            <a:off x="4229100" y="2038350"/>
            <a:ext cx="1714500" cy="76200"/>
          </a:xfrm>
          <a:prstGeom prst="rect">
            <a:avLst/>
          </a:prstGeom>
          <a:solidFill>
            <a:srgbClr val="8CF2A4"/>
          </a:solidFill>
          <a:ln cap="flat" cmpd="sng" w="95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e6557f50ee_2_9"/>
          <p:cNvSpPr/>
          <p:nvPr/>
        </p:nvSpPr>
        <p:spPr>
          <a:xfrm>
            <a:off x="4381500" y="21907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78F0D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6" name="Google Shape;156;g3e6557f50ee_2_9"/>
          <p:cNvSpPr/>
          <p:nvPr/>
        </p:nvSpPr>
        <p:spPr>
          <a:xfrm>
            <a:off x="4381500" y="2476500"/>
            <a:ext cx="14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Pay</a:t>
            </a:r>
            <a:endParaRPr/>
          </a:p>
        </p:txBody>
      </p:sp>
      <p:sp>
        <p:nvSpPr>
          <p:cNvPr id="157" name="Google Shape;157;g3e6557f50ee_2_9"/>
          <p:cNvSpPr/>
          <p:nvPr/>
        </p:nvSpPr>
        <p:spPr>
          <a:xfrm>
            <a:off x="4381500" y="2838450"/>
            <a:ext cx="1428900" cy="590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Stripe captures payment before booking moves forward.</a:t>
            </a:r>
            <a:endParaRPr/>
          </a:p>
        </p:txBody>
      </p:sp>
      <p:sp>
        <p:nvSpPr>
          <p:cNvPr id="158" name="Google Shape;158;g3e6557f50ee_2_9"/>
          <p:cNvSpPr/>
          <p:nvPr/>
        </p:nvSpPr>
        <p:spPr>
          <a:xfrm>
            <a:off x="6000750" y="27241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7D8C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59" name="Google Shape;159;g3e6557f50ee_2_9"/>
          <p:cNvSpPr/>
          <p:nvPr/>
        </p:nvSpPr>
        <p:spPr>
          <a:xfrm>
            <a:off x="6096000" y="2038350"/>
            <a:ext cx="1714500" cy="1638300"/>
          </a:xfrm>
          <a:prstGeom prst="roundRect">
            <a:avLst>
              <a:gd fmla="val 4651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e6557f50ee_2_9"/>
          <p:cNvSpPr/>
          <p:nvPr/>
        </p:nvSpPr>
        <p:spPr>
          <a:xfrm>
            <a:off x="6096000" y="2038350"/>
            <a:ext cx="1714500" cy="76200"/>
          </a:xfrm>
          <a:prstGeom prst="rect">
            <a:avLst/>
          </a:prstGeom>
          <a:solidFill>
            <a:srgbClr val="FFBF6B"/>
          </a:solidFill>
          <a:ln cap="flat" cmpd="sng" w="95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e6557f50ee_2_9"/>
          <p:cNvSpPr/>
          <p:nvPr/>
        </p:nvSpPr>
        <p:spPr>
          <a:xfrm>
            <a:off x="6248400" y="21907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78F0D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62" name="Google Shape;162;g3e6557f50ee_2_9"/>
          <p:cNvSpPr/>
          <p:nvPr/>
        </p:nvSpPr>
        <p:spPr>
          <a:xfrm>
            <a:off x="6248400" y="2476500"/>
            <a:ext cx="14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Associate review</a:t>
            </a:r>
            <a:endParaRPr/>
          </a:p>
        </p:txBody>
      </p:sp>
      <p:sp>
        <p:nvSpPr>
          <p:cNvPr id="163" name="Google Shape;163;g3e6557f50ee_2_9"/>
          <p:cNvSpPr/>
          <p:nvPr/>
        </p:nvSpPr>
        <p:spPr>
          <a:xfrm>
            <a:off x="6248400" y="2838450"/>
            <a:ext cx="1428900" cy="590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Associate passes the booking to senior approval.</a:t>
            </a:r>
            <a:endParaRPr/>
          </a:p>
        </p:txBody>
      </p:sp>
      <p:sp>
        <p:nvSpPr>
          <p:cNvPr id="164" name="Google Shape;164;g3e6557f50ee_2_9"/>
          <p:cNvSpPr/>
          <p:nvPr/>
        </p:nvSpPr>
        <p:spPr>
          <a:xfrm>
            <a:off x="7867650" y="27241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7D8C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65" name="Google Shape;165;g3e6557f50ee_2_9"/>
          <p:cNvSpPr/>
          <p:nvPr/>
        </p:nvSpPr>
        <p:spPr>
          <a:xfrm>
            <a:off x="7962900" y="2038350"/>
            <a:ext cx="1714500" cy="1638300"/>
          </a:xfrm>
          <a:prstGeom prst="roundRect">
            <a:avLst>
              <a:gd fmla="val 4651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6557f50ee_2_9"/>
          <p:cNvSpPr/>
          <p:nvPr/>
        </p:nvSpPr>
        <p:spPr>
          <a:xfrm>
            <a:off x="7962900" y="2038350"/>
            <a:ext cx="1714500" cy="76200"/>
          </a:xfrm>
          <a:prstGeom prst="rect">
            <a:avLst/>
          </a:prstGeom>
          <a:solidFill>
            <a:srgbClr val="FF8E7C"/>
          </a:solidFill>
          <a:ln cap="flat" cmpd="sng" w="95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e6557f50ee_2_9"/>
          <p:cNvSpPr/>
          <p:nvPr/>
        </p:nvSpPr>
        <p:spPr>
          <a:xfrm>
            <a:off x="8115300" y="21907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78F0D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8" name="Google Shape;168;g3e6557f50ee_2_9"/>
          <p:cNvSpPr/>
          <p:nvPr/>
        </p:nvSpPr>
        <p:spPr>
          <a:xfrm>
            <a:off x="8115300" y="2476500"/>
            <a:ext cx="14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Senior decision</a:t>
            </a:r>
            <a:endParaRPr/>
          </a:p>
        </p:txBody>
      </p:sp>
      <p:sp>
        <p:nvSpPr>
          <p:cNvPr id="169" name="Google Shape;169;g3e6557f50ee_2_9"/>
          <p:cNvSpPr/>
          <p:nvPr/>
        </p:nvSpPr>
        <p:spPr>
          <a:xfrm>
            <a:off x="8115300" y="2838450"/>
            <a:ext cx="1428900" cy="590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Senior Associate approves or rejects the booking.</a:t>
            </a:r>
            <a:endParaRPr/>
          </a:p>
        </p:txBody>
      </p:sp>
      <p:sp>
        <p:nvSpPr>
          <p:cNvPr id="170" name="Google Shape;170;g3e6557f50ee_2_9"/>
          <p:cNvSpPr/>
          <p:nvPr/>
        </p:nvSpPr>
        <p:spPr>
          <a:xfrm>
            <a:off x="9734550" y="27241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7D8C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71" name="Google Shape;171;g3e6557f50ee_2_9"/>
          <p:cNvSpPr/>
          <p:nvPr/>
        </p:nvSpPr>
        <p:spPr>
          <a:xfrm>
            <a:off x="9829800" y="2038350"/>
            <a:ext cx="1714500" cy="1638300"/>
          </a:xfrm>
          <a:prstGeom prst="roundRect">
            <a:avLst>
              <a:gd fmla="val 4651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e6557f50ee_2_9"/>
          <p:cNvSpPr/>
          <p:nvPr/>
        </p:nvSpPr>
        <p:spPr>
          <a:xfrm>
            <a:off x="9829800" y="2038350"/>
            <a:ext cx="1714500" cy="76200"/>
          </a:xfrm>
          <a:prstGeom prst="rect">
            <a:avLst/>
          </a:prstGeom>
          <a:solidFill>
            <a:srgbClr val="5B9CFF"/>
          </a:solidFill>
          <a:ln cap="flat" cmpd="sng" w="95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e6557f50ee_2_9"/>
          <p:cNvSpPr/>
          <p:nvPr/>
        </p:nvSpPr>
        <p:spPr>
          <a:xfrm>
            <a:off x="9982200" y="21907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78F0D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4" name="Google Shape;174;g3e6557f50ee_2_9"/>
          <p:cNvSpPr/>
          <p:nvPr/>
        </p:nvSpPr>
        <p:spPr>
          <a:xfrm>
            <a:off x="9982200" y="2476500"/>
            <a:ext cx="14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Notify</a:t>
            </a:r>
            <a:endParaRPr/>
          </a:p>
        </p:txBody>
      </p:sp>
      <p:sp>
        <p:nvSpPr>
          <p:cNvPr id="175" name="Google Shape;175;g3e6557f50ee_2_9"/>
          <p:cNvSpPr/>
          <p:nvPr/>
        </p:nvSpPr>
        <p:spPr>
          <a:xfrm>
            <a:off x="9982200" y="2838450"/>
            <a:ext cx="1428900" cy="590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Kafka drives confirmation or rejection email delivery.</a:t>
            </a:r>
            <a:endParaRPr/>
          </a:p>
        </p:txBody>
      </p:sp>
      <p:sp>
        <p:nvSpPr>
          <p:cNvPr id="176" name="Google Shape;176;g3e6557f50ee_2_9"/>
          <p:cNvSpPr/>
          <p:nvPr/>
        </p:nvSpPr>
        <p:spPr>
          <a:xfrm>
            <a:off x="495300" y="4210050"/>
            <a:ext cx="11201400" cy="1352700"/>
          </a:xfrm>
          <a:prstGeom prst="roundRect">
            <a:avLst>
              <a:gd fmla="val 5634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e6557f50ee_2_9"/>
          <p:cNvSpPr/>
          <p:nvPr/>
        </p:nvSpPr>
        <p:spPr>
          <a:xfrm>
            <a:off x="495300" y="4210050"/>
            <a:ext cx="11201400" cy="76200"/>
          </a:xfrm>
          <a:prstGeom prst="rect">
            <a:avLst/>
          </a:prstGeom>
          <a:solidFill>
            <a:srgbClr val="FFBF6B"/>
          </a:solidFill>
          <a:ln cap="flat" cmpd="sng" w="9525">
            <a:solidFill>
              <a:srgbClr val="FFB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e6557f50ee_2_9"/>
          <p:cNvSpPr/>
          <p:nvPr/>
        </p:nvSpPr>
        <p:spPr>
          <a:xfrm>
            <a:off x="666750" y="4381500"/>
            <a:ext cx="1085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Failure handling</a:t>
            </a:r>
            <a:endParaRPr/>
          </a:p>
        </p:txBody>
      </p:sp>
      <p:sp>
        <p:nvSpPr>
          <p:cNvPr id="179" name="Google Shape;179;g3e6557f50ee_2_9"/>
          <p:cNvSpPr/>
          <p:nvPr/>
        </p:nvSpPr>
        <p:spPr>
          <a:xfrm>
            <a:off x="666750" y="4762500"/>
            <a:ext cx="10858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Payment failures keep the booking from progressing, expired seat locks release inventory automatically, and approval rejection still produces a controlled outcome with email notification.</a:t>
            </a:r>
            <a:endParaRPr/>
          </a:p>
        </p:txBody>
      </p:sp>
      <p:sp>
        <p:nvSpPr>
          <p:cNvPr id="180" name="Google Shape;180;g3e6557f50ee_2_9"/>
          <p:cNvSpPr/>
          <p:nvPr/>
        </p:nvSpPr>
        <p:spPr>
          <a:xfrm>
            <a:off x="11049000" y="643890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D8CA8"/>
                </a:solidFill>
                <a:latin typeface="Calibri"/>
                <a:ea typeface="Calibri"/>
                <a:cs typeface="Calibri"/>
                <a:sym typeface="Calibri"/>
              </a:rPr>
              <a:t>05 / 08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51435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8F0D5"/>
                </a:solidFill>
                <a:latin typeface="Calibri"/>
                <a:ea typeface="Calibri"/>
                <a:cs typeface="Calibri"/>
                <a:sym typeface="Calibri"/>
              </a:rPr>
              <a:t>DATA FLOW</a:t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514350" y="609600"/>
            <a:ext cx="7429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Source of truth, search, and event sync</a:t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514350" y="12573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PostgreSQL remains the system of record while Debezium and Kafka keep search and notifications up to date.</a:t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514350" y="1809750"/>
            <a:ext cx="2667000" cy="1524000"/>
          </a:xfrm>
          <a:prstGeom prst="roundRect">
            <a:avLst>
              <a:gd fmla="val 5000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514350" y="1809750"/>
            <a:ext cx="2667000" cy="76200"/>
          </a:xfrm>
          <a:prstGeom prst="rect">
            <a:avLst/>
          </a:prstGeom>
          <a:solidFill>
            <a:srgbClr val="5B9CFF"/>
          </a:solidFill>
          <a:ln cap="flat" cmpd="sng" w="9525">
            <a:solidFill>
              <a:srgbClr val="5B9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685800" y="1981200"/>
            <a:ext cx="2324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PostgreSQL 16</a:t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685800" y="2362200"/>
            <a:ext cx="23241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Users, airlines, flights, schedules, seats, bookings, and approval status live here.</a:t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514350" y="3524250"/>
            <a:ext cx="2667000" cy="1333500"/>
          </a:xfrm>
          <a:prstGeom prst="roundRect">
            <a:avLst>
              <a:gd fmla="val 5714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514350" y="3524250"/>
            <a:ext cx="2667000" cy="76200"/>
          </a:xfrm>
          <a:prstGeom prst="rect">
            <a:avLst/>
          </a:prstGeom>
          <a:solidFill>
            <a:srgbClr val="78F0D5"/>
          </a:solidFill>
          <a:ln cap="flat" cmpd="sng" w="9525">
            <a:solidFill>
              <a:srgbClr val="78F0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685800" y="3695700"/>
            <a:ext cx="2324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PgBouncer</a:t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685800" y="4076700"/>
            <a:ext cx="2324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Write and read pools keep database access practical under concurrency.</a:t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3543300" y="2152650"/>
            <a:ext cx="2724150" cy="1428750"/>
          </a:xfrm>
          <a:prstGeom prst="roundRect">
            <a:avLst>
              <a:gd fmla="val 5333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3543300" y="2152650"/>
            <a:ext cx="2724150" cy="76200"/>
          </a:xfrm>
          <a:prstGeom prst="rect">
            <a:avLst/>
          </a:prstGeom>
          <a:solidFill>
            <a:srgbClr val="FFBF6B"/>
          </a:solidFill>
          <a:ln cap="flat" cmpd="sng" w="9525">
            <a:solidFill>
              <a:srgbClr val="FFB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3714750" y="23241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Debezium Connect</a:t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3714750" y="2705100"/>
            <a:ext cx="23812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Reads PostgreSQL WAL and publishes change events to Kafka.</a:t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3543300" y="3771900"/>
            <a:ext cx="2724150" cy="1143000"/>
          </a:xfrm>
          <a:prstGeom prst="roundRect">
            <a:avLst>
              <a:gd fmla="val 6667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3543300" y="3771900"/>
            <a:ext cx="2724150" cy="76200"/>
          </a:xfrm>
          <a:prstGeom prst="rect">
            <a:avLst/>
          </a:prstGeom>
          <a:solidFill>
            <a:srgbClr val="FF8E7C"/>
          </a:solidFill>
          <a:ln cap="flat" cmpd="sng" w="9525">
            <a:solidFill>
              <a:srgbClr val="FF8E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3714750" y="39433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Kafka topics</a:t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3714750" y="432435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CDC topic plus booking.confirmed and booking.rejected event streams.</a:t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6724650" y="1809750"/>
            <a:ext cx="2667000" cy="1524000"/>
          </a:xfrm>
          <a:prstGeom prst="roundRect">
            <a:avLst>
              <a:gd fmla="val 5000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6724650" y="1809750"/>
            <a:ext cx="2667000" cy="76200"/>
          </a:xfrm>
          <a:prstGeom prst="rect">
            <a:avLst/>
          </a:prstGeom>
          <a:solidFill>
            <a:srgbClr val="8CF2A4"/>
          </a:solidFill>
          <a:ln cap="flat" cmpd="sng" w="9525">
            <a:solidFill>
              <a:srgbClr val="8CF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6896100" y="1981200"/>
            <a:ext cx="2324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NestJS CDC consumer</a:t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6896100" y="2362200"/>
            <a:ext cx="23241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Consumes CDC events and syncs flight data into Elasticsearch.</a:t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6724650" y="3524250"/>
            <a:ext cx="2667000" cy="1333500"/>
          </a:xfrm>
          <a:prstGeom prst="roundRect">
            <a:avLst>
              <a:gd fmla="val 5714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6724650" y="3524250"/>
            <a:ext cx="2667000" cy="76200"/>
          </a:xfrm>
          <a:prstGeom prst="rect">
            <a:avLst/>
          </a:prstGeom>
          <a:solidFill>
            <a:srgbClr val="5B9CFF"/>
          </a:solidFill>
          <a:ln cap="flat" cmpd="sng" w="9525">
            <a:solidFill>
              <a:srgbClr val="5B9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6896100" y="3695700"/>
            <a:ext cx="2324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Elasticsearch 8</a:t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6896100" y="4076700"/>
            <a:ext cx="2324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Search index powers route/date queries and should stay search-only.</a:t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9715500" y="2362200"/>
            <a:ext cx="1962150" cy="1314450"/>
          </a:xfrm>
          <a:prstGeom prst="roundRect">
            <a:avLst>
              <a:gd fmla="val 5797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9715500" y="2362200"/>
            <a:ext cx="1962150" cy="76200"/>
          </a:xfrm>
          <a:prstGeom prst="rect">
            <a:avLst/>
          </a:prstGeom>
          <a:solidFill>
            <a:srgbClr val="78F0D5"/>
          </a:solidFill>
          <a:ln cap="flat" cmpd="sng" w="9525">
            <a:solidFill>
              <a:srgbClr val="78F0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9886950" y="25336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9886950" y="2914650"/>
            <a:ext cx="1619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Atomic seat locks with TTL.</a:t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9715500" y="3981450"/>
            <a:ext cx="1962150" cy="1066800"/>
          </a:xfrm>
          <a:prstGeom prst="roundRect">
            <a:avLst>
              <a:gd fmla="val 7143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9715500" y="3981450"/>
            <a:ext cx="1962150" cy="76200"/>
          </a:xfrm>
          <a:prstGeom prst="rect">
            <a:avLst/>
          </a:prstGeom>
          <a:solidFill>
            <a:srgbClr val="FFBF6B"/>
          </a:solidFill>
          <a:ln cap="flat" cmpd="sng" w="9525">
            <a:solidFill>
              <a:srgbClr val="FFB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9886950" y="41529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SendGrid</a:t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9886950" y="4533900"/>
            <a:ext cx="1619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Async booking emails.</a:t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514350" y="5295900"/>
            <a:ext cx="647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7D8CA8"/>
                </a:solidFill>
                <a:latin typeface="Calibri"/>
                <a:ea typeface="Calibri"/>
                <a:cs typeface="Calibri"/>
                <a:sym typeface="Calibri"/>
              </a:rPr>
              <a:t>PostgreSQL is the source of truth; Elasticsearch is a read model; Redis is temporary lock state.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11049000" y="643890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D8CA8"/>
                </a:solidFill>
                <a:latin typeface="Calibri"/>
                <a:ea typeface="Calibri"/>
                <a:cs typeface="Calibri"/>
                <a:sym typeface="Calibri"/>
              </a:rPr>
              <a:t>06 / 08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3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"/>
          <p:cNvSpPr/>
          <p:nvPr/>
        </p:nvSpPr>
        <p:spPr>
          <a:xfrm>
            <a:off x="51435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8F0D5"/>
                </a:solidFill>
                <a:latin typeface="Calibri"/>
                <a:ea typeface="Calibri"/>
                <a:cs typeface="Calibri"/>
                <a:sym typeface="Calibri"/>
              </a:rPr>
              <a:t>ACCESS</a:t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514350" y="609600"/>
            <a:ext cx="7429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Roles and permissions</a:t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514350" y="12573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The system has one public role and three operational roles with increasing authority.</a:t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514350" y="1809750"/>
            <a:ext cx="2857500" cy="514350"/>
          </a:xfrm>
          <a:prstGeom prst="roundRect">
            <a:avLst>
              <a:gd fmla="val 14815" name="adj"/>
            </a:avLst>
          </a:prstGeom>
          <a:solidFill>
            <a:srgbClr val="152542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628650" y="1943100"/>
            <a:ext cx="262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78F0D5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3467100" y="1809750"/>
            <a:ext cx="1428750" cy="514350"/>
          </a:xfrm>
          <a:prstGeom prst="roundRect">
            <a:avLst>
              <a:gd fmla="val 14815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3581400" y="194310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4991100" y="1809750"/>
            <a:ext cx="1714500" cy="514350"/>
          </a:xfrm>
          <a:prstGeom prst="roundRect">
            <a:avLst>
              <a:gd fmla="val 14815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5105400" y="1943100"/>
            <a:ext cx="1485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ASSOCIATE</a:t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6800850" y="1809750"/>
            <a:ext cx="2476500" cy="514350"/>
          </a:xfrm>
          <a:prstGeom prst="roundRect">
            <a:avLst>
              <a:gd fmla="val 14815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6915150" y="194310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SENIOR ASSOCIATE</a:t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9372600" y="1809750"/>
            <a:ext cx="1676400" cy="514350"/>
          </a:xfrm>
          <a:prstGeom prst="roundRect">
            <a:avLst>
              <a:gd fmla="val 14815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9486900" y="1943100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SUPERADMIN</a:t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514350" y="2419350"/>
            <a:ext cx="28575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628650" y="2590800"/>
            <a:ext cx="262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Search and book flights</a:t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3467100" y="2419350"/>
            <a:ext cx="142875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3581400" y="2590800"/>
            <a:ext cx="1200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CF2A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4991100" y="2419350"/>
            <a:ext cx="17145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5105400" y="2590800"/>
            <a:ext cx="1485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CF2A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6800850" y="2419350"/>
            <a:ext cx="24765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6915150" y="2590800"/>
            <a:ext cx="2247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CF2A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9372600" y="2419350"/>
            <a:ext cx="16764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9486900" y="2590800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CF2A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514350" y="3295650"/>
            <a:ext cx="28575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628650" y="3467100"/>
            <a:ext cx="262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Web check-in</a:t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3467100" y="3295650"/>
            <a:ext cx="142875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3581400" y="3467100"/>
            <a:ext cx="1200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CF2A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4991100" y="3295650"/>
            <a:ext cx="17145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5105400" y="3467100"/>
            <a:ext cx="1485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CF2A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6800850" y="3295650"/>
            <a:ext cx="24765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6915150" y="3467100"/>
            <a:ext cx="2247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CF2A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9372600" y="3295650"/>
            <a:ext cx="16764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9486900" y="3467100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CF2A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514350" y="4171950"/>
            <a:ext cx="28575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628650" y="4343400"/>
            <a:ext cx="262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View own bookings</a:t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3467100" y="4171950"/>
            <a:ext cx="142875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3581400" y="4343400"/>
            <a:ext cx="1200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CF2A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4991100" y="4171950"/>
            <a:ext cx="17145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5105400" y="4343400"/>
            <a:ext cx="1485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CF2A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6800850" y="4171950"/>
            <a:ext cx="24765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6915150" y="4343400"/>
            <a:ext cx="2247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CF2A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9372600" y="4171950"/>
            <a:ext cx="16764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9486900" y="4343400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CF2A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514350" y="5048250"/>
            <a:ext cx="28575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628650" y="5219700"/>
            <a:ext cx="262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Approve or reject</a:t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3467100" y="5048250"/>
            <a:ext cx="142875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3581400" y="5219700"/>
            <a:ext cx="1200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7D8CA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4991100" y="5048250"/>
            <a:ext cx="17145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5105400" y="5219700"/>
            <a:ext cx="1485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7D8CA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6800850" y="5048250"/>
            <a:ext cx="24765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6915150" y="5219700"/>
            <a:ext cx="2247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CF2A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9372600" y="5048250"/>
            <a:ext cx="16764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9486900" y="5219700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CF2A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514350" y="5924550"/>
            <a:ext cx="28575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628650" y="6096000"/>
            <a:ext cx="262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Manage airline/staff</a:t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3467100" y="5924550"/>
            <a:ext cx="142875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3581400" y="6096000"/>
            <a:ext cx="1200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7D8CA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4991100" y="5924550"/>
            <a:ext cx="17145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5105400" y="6096000"/>
            <a:ext cx="1485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Own airline</a:t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6800850" y="5924550"/>
            <a:ext cx="24765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6915150" y="6096000"/>
            <a:ext cx="2247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Own airline</a:t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9372600" y="5924550"/>
            <a:ext cx="1676400" cy="781050"/>
          </a:xfrm>
          <a:prstGeom prst="roundRect">
            <a:avLst>
              <a:gd fmla="val 9756" name="adj"/>
            </a:avLst>
          </a:prstGeom>
          <a:solidFill>
            <a:srgbClr val="111F38"/>
          </a:solidFill>
          <a:ln cap="flat" cmpd="sng" w="1047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9486900" y="6096000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11049000" y="643890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D8CA8"/>
                </a:solidFill>
                <a:latin typeface="Calibri"/>
                <a:ea typeface="Calibri"/>
                <a:cs typeface="Calibri"/>
                <a:sym typeface="Calibri"/>
              </a:rPr>
              <a:t>07 / 08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"/>
          <p:cNvSpPr/>
          <p:nvPr/>
        </p:nvSpPr>
        <p:spPr>
          <a:xfrm>
            <a:off x="51435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8F0D5"/>
                </a:solidFill>
                <a:latin typeface="Calibri"/>
                <a:ea typeface="Calibri"/>
                <a:cs typeface="Calibri"/>
                <a:sym typeface="Calibri"/>
              </a:rPr>
              <a:t>RUN IT</a:t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514350" y="609600"/>
            <a:ext cx="7429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How to start the project</a:t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514350" y="1676400"/>
            <a:ext cx="3581400" cy="3771900"/>
          </a:xfrm>
          <a:prstGeom prst="roundRect">
            <a:avLst>
              <a:gd fmla="val 2128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514350" y="1676400"/>
            <a:ext cx="3581400" cy="76200"/>
          </a:xfrm>
          <a:prstGeom prst="rect">
            <a:avLst/>
          </a:prstGeom>
          <a:solidFill>
            <a:srgbClr val="5B9CFF"/>
          </a:solidFill>
          <a:ln cap="flat" cmpd="sng" w="9525">
            <a:solidFill>
              <a:srgbClr val="5B9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685800" y="1847850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Run commands</a:t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685800" y="2228850"/>
            <a:ext cx="3238500" cy="3086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1. docker-compose up -d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2. cd backend &amp;&amp; npm run start:dev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3. cd frontend &amp;&amp; npm run dev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4. cd backend &amp;&amp; npx prisma migrate dev &amp;&amp; npm run prisma:seed</a:t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4324350" y="1676400"/>
            <a:ext cx="3162300" cy="3771900"/>
          </a:xfrm>
          <a:prstGeom prst="roundRect">
            <a:avLst>
              <a:gd fmla="val 2410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4324350" y="1676400"/>
            <a:ext cx="3162300" cy="76200"/>
          </a:xfrm>
          <a:prstGeom prst="rect">
            <a:avLst/>
          </a:prstGeom>
          <a:solidFill>
            <a:srgbClr val="78F0D5"/>
          </a:solidFill>
          <a:ln cap="flat" cmpd="sng" w="9525">
            <a:solidFill>
              <a:srgbClr val="78F0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4495800" y="1847850"/>
            <a:ext cx="2819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Default endpoints</a:t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4495800" y="2228850"/>
            <a:ext cx="2819400" cy="3086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Frontend: http://localhost:5173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Backend: http://localhost:3001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Health: http://localhost:3001/health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Elastic: http://localhost:9200</a:t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7715250" y="1676400"/>
            <a:ext cx="3962400" cy="3771900"/>
          </a:xfrm>
          <a:prstGeom prst="roundRect">
            <a:avLst>
              <a:gd fmla="val 2020" name="adj"/>
            </a:avLst>
          </a:prstGeom>
          <a:solidFill>
            <a:srgbClr val="111F38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7715250" y="1676400"/>
            <a:ext cx="3962400" cy="76200"/>
          </a:xfrm>
          <a:prstGeom prst="rect">
            <a:avLst/>
          </a:prstGeom>
          <a:solidFill>
            <a:srgbClr val="FFBF6B"/>
          </a:solidFill>
          <a:ln cap="flat" cmpd="sng" w="9525">
            <a:solidFill>
              <a:srgbClr val="FFB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7886700" y="18478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4F7FF"/>
                </a:solidFill>
                <a:latin typeface="Calibri"/>
                <a:ea typeface="Calibri"/>
                <a:cs typeface="Calibri"/>
                <a:sym typeface="Calibri"/>
              </a:rPr>
              <a:t>Seeded access</a:t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7886700" y="2228850"/>
            <a:ext cx="3619500" cy="3086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superadmin@flightbooking.com / Admin@123456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user@flightbooking.com / User@123456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associate@flightbooking.com / Associate@123456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EB9D0"/>
                </a:solidFill>
                <a:latin typeface="Calibri"/>
                <a:ea typeface="Calibri"/>
                <a:cs typeface="Calibri"/>
                <a:sym typeface="Calibri"/>
              </a:rPr>
              <a:t>senior@flightbooking.com / Senior@123456</a:t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549025" y="5791200"/>
            <a:ext cx="1828800" cy="324000"/>
          </a:xfrm>
          <a:prstGeom prst="roundRect">
            <a:avLst>
              <a:gd fmla="val 23529" name="adj"/>
            </a:avLst>
          </a:prstGeom>
          <a:solidFill>
            <a:srgbClr val="152542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B9CFF"/>
                </a:solidFill>
                <a:latin typeface="Calibri"/>
                <a:ea typeface="Calibri"/>
                <a:cs typeface="Calibri"/>
                <a:sym typeface="Calibri"/>
              </a:rPr>
              <a:t>Next: booking webhooks</a:t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2473075" y="5791200"/>
            <a:ext cx="1714500" cy="324000"/>
          </a:xfrm>
          <a:prstGeom prst="roundRect">
            <a:avLst>
              <a:gd fmla="val 23529" name="adj"/>
            </a:avLst>
          </a:prstGeom>
          <a:solidFill>
            <a:srgbClr val="152542"/>
          </a:solidFill>
          <a:ln cap="flat" cmpd="sng" w="11425">
            <a:solidFill>
              <a:srgbClr val="2A3D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BF6B"/>
                </a:solidFill>
                <a:latin typeface="Calibri"/>
                <a:ea typeface="Calibri"/>
                <a:cs typeface="Calibri"/>
                <a:sym typeface="Calibri"/>
              </a:rPr>
              <a:t>Next: admin workflows</a:t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11049000" y="643890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D8CA8"/>
                </a:solidFill>
                <a:latin typeface="Calibri"/>
                <a:ea typeface="Calibri"/>
                <a:cs typeface="Calibri"/>
                <a:sym typeface="Calibri"/>
              </a:rPr>
              <a:t>08 / 08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